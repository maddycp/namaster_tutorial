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647"/>
    <p:restoredTop sz="94653"/>
  </p:normalViewPr>
  <p:slideViewPr>
    <p:cSldViewPr snapToGrid="0">
      <p:cViewPr>
        <p:scale>
          <a:sx n="83" d="100"/>
          <a:sy n="83" d="100"/>
        </p:scale>
        <p:origin x="680" y="9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8BD5B9-2F64-0C4A-B98C-88EAAEDE17E3}" type="datetimeFigureOut">
              <a:rPr lang="en-US" smtClean="0"/>
              <a:t>7/27/26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33A30F-1267-8940-89BF-8D4A77583C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268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33A30F-1267-8940-89BF-8D4A77583C0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084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33A30F-1267-8940-89BF-8D4A77583C0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7825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68929-E2BC-3619-2EFD-EF27A4B3B6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71B568-3DDF-B421-ABC3-431D5D0EA5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51CC76-7BBE-A90A-5F0D-CDDEF6990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389BF-5995-AA48-8419-4A5E23A2C1AA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DA383B-4420-939A-AA10-F2C9D63A7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EAB333-BC5F-B47B-AC43-139E985FB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5BDCA-28DD-3D4F-A736-15F31AE206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9822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2E3A7-4729-7480-864B-A69500C1F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A89769-B262-4288-C5D7-5AAEAE293E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CEE524-07CD-8E66-9DD2-BCFDC8367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389BF-5995-AA48-8419-4A5E23A2C1AA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903AF6-D95C-34F2-CE61-1219914AE3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6D6CD7-9B6D-F255-E499-FB6B87B4D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5BDCA-28DD-3D4F-A736-15F31AE206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3864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DC62D-ABD2-D041-0AAB-6D1660D0C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FA09E1-8BC6-E79C-5004-D38BD40AB9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E1B0E0-1D34-57F7-F0AA-F4F0A1F1F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389BF-5995-AA48-8419-4A5E23A2C1AA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66CF48-8EBB-310D-A137-069118DD7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41B5C7-3173-4694-C7CA-A27D7F5E5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5BDCA-28DD-3D4F-A736-15F31AE206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363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01F05-0744-1599-E54B-7C5E0F59C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9E9AC7-E9A3-6E0F-4CE9-E9C6123228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38E2D8-FF32-35D5-638F-F6DB6E21E0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846864-D31F-6EB9-2EFF-06F6396B47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389BF-5995-AA48-8419-4A5E23A2C1AA}" type="datetimeFigureOut">
              <a:rPr lang="en-US" smtClean="0"/>
              <a:t>7/27/26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7C93C7-3BA9-DD02-1B73-AA1BC4B4D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64FCE3-4782-D333-198D-40D616EB9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5BDCA-28DD-3D4F-A736-15F31AE206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6713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32B91-564F-77D8-5D92-1D639447D9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90B3E1-5F87-BEED-54C5-F6C729F3FD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38BF3F-A0B3-DB6C-6FB7-0216712882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9EBA78-3C4F-8BFC-FCDA-FAEE86F33E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AAB1EE-C4F0-7CFB-3943-E37A6B64E3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3352DB5-21B7-019D-CE51-1279365DC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389BF-5995-AA48-8419-4A5E23A2C1AA}" type="datetimeFigureOut">
              <a:rPr lang="en-US" smtClean="0"/>
              <a:t>7/27/26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DF76AC-564C-F699-6951-C56C771C5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9B9B5CF-7130-3DC4-E297-BC2AB7405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5BDCA-28DD-3D4F-A736-15F31AE206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5852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93AFA5-797F-7DA1-822E-9BD30564C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A06B5A-91B5-D77F-423D-7CCCC9CCA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389BF-5995-AA48-8419-4A5E23A2C1AA}" type="datetimeFigureOut">
              <a:rPr lang="en-US" smtClean="0"/>
              <a:t>7/27/26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2B7D1A-7634-681E-6DD0-D9FAB18AE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F6AC81-8AD8-8A46-1406-3F1BA1D9C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5BDCA-28DD-3D4F-A736-15F31AE206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8103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ED8EA0-BBAA-0328-6077-B1A0CADD9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389BF-5995-AA48-8419-4A5E23A2C1AA}" type="datetimeFigureOut">
              <a:rPr lang="en-US" smtClean="0"/>
              <a:t>7/27/26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35A50AC-5F46-4DAA-F9A4-52C6A4DF3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CA988E-0DDE-1718-0485-96B9BCDC4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5BDCA-28DD-3D4F-A736-15F31AE206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728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F04BE-D090-987D-92BC-B775763B7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004F80-4FCD-861C-EF82-24ADA73C58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4F17EB-D525-BD26-0482-29DEBBFB4D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8F2361-1ACE-FF71-93CE-11CA374D0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389BF-5995-AA48-8419-4A5E23A2C1AA}" type="datetimeFigureOut">
              <a:rPr lang="en-US" smtClean="0"/>
              <a:t>7/27/26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CD5E9E-1F1A-408F-DAAF-740B3A179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E6CAF0-5005-44C9-E87E-778609582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5BDCA-28DD-3D4F-A736-15F31AE206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0598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446F8-B6A1-1C7F-5C45-71651670D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5F31BF-AFFF-AB33-6660-7445E52B65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F5C10E-E7D0-FADB-F9EF-5BEF1112FA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18F74E-3479-ADC7-26B9-20DD5277B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389BF-5995-AA48-8419-4A5E23A2C1AA}" type="datetimeFigureOut">
              <a:rPr lang="en-US" smtClean="0"/>
              <a:t>7/27/26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F1BE3E-F062-CC68-980E-974D988EE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CBF281-EF8A-7F34-9DC9-CDB81F1CE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5BDCA-28DD-3D4F-A736-15F31AE206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6098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73A65-CC9D-E760-9CAF-380A4AAE8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5EA47A-C194-A440-9F2B-77F3B94B73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9F180E-9CD9-15D1-A5C9-8FA96CE48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389BF-5995-AA48-8419-4A5E23A2C1AA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8D9694-C036-A87D-593B-60EBD3FD3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01C394-F7C8-87C7-8023-7273CE06F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5BDCA-28DD-3D4F-A736-15F31AE206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7712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F358A5F-D6A0-288F-3670-C0D628EB7D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A807DF-F995-DB92-0904-BA45BED765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DB85AC-51BD-456F-D9C5-A8060039E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389BF-5995-AA48-8419-4A5E23A2C1AA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326835-2E72-E939-B814-F0B56512D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9E9FB4-FBB8-DB46-11AD-7593FB47B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5BDCA-28DD-3D4F-A736-15F31AE206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241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3C5A8AA-89AF-FAA0-BD11-D999FCBB8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598FE2-3B6B-EE4E-E3EE-1F0C8F2554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A00B03-2A11-092C-C0EF-123250D51A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A389BF-5995-AA48-8419-4A5E23A2C1AA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48559D-B03D-6105-8B41-11432249A8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D64370-2801-B51C-7531-F377334A59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C5BDCA-28DD-3D4F-A736-15F31AE206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621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addycp/NaMaster_Tutorial" TargetMode="External"/><Relationship Id="rId2" Type="http://schemas.openxmlformats.org/officeDocument/2006/relationships/hyperlink" Target="https://namaster.readthedocs.io/en/latest/source/sample_simple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0B9E9-52DB-166E-84EF-146D7AB86E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Baskerville Old Face" panose="02020602080505020303" pitchFamily="18" charset="77"/>
              </a:rPr>
              <a:t>A guide to </a:t>
            </a:r>
            <a:r>
              <a:rPr lang="en-US" dirty="0" err="1">
                <a:latin typeface="Baskerville Old Face" panose="02020602080505020303" pitchFamily="18" charset="77"/>
              </a:rPr>
              <a:t>NaMaster</a:t>
            </a:r>
            <a:endParaRPr lang="en-US" dirty="0">
              <a:latin typeface="Baskerville Old Face" panose="02020602080505020303" pitchFamily="18" charset="77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70D9DB-70C2-68B3-5CF1-B14419AEA1D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621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D600C-37C4-1D54-2CCF-FA88D5267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Baskerville Old Face" panose="02020602080505020303" pitchFamily="18" charset="77"/>
              </a:rPr>
              <a:t>What is </a:t>
            </a:r>
            <a:r>
              <a:rPr lang="en-US" dirty="0" err="1">
                <a:latin typeface="Baskerville Old Face" panose="02020602080505020303" pitchFamily="18" charset="77"/>
              </a:rPr>
              <a:t>NaMaster</a:t>
            </a:r>
            <a:endParaRPr lang="en-US" dirty="0">
              <a:latin typeface="Baskerville Old Face" panose="02020602080505020303" pitchFamily="18" charset="77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7D5923E-4B5B-CACE-3B5F-636C4D7E862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AU" dirty="0" err="1">
                    <a:latin typeface="Baskerville Old Face" panose="02020602080505020303" pitchFamily="18" charset="77"/>
                  </a:rPr>
                  <a:t>NaMaster</a:t>
                </a:r>
                <a:r>
                  <a:rPr lang="en-AU" dirty="0">
                    <a:latin typeface="Baskerville Old Face" panose="02020602080505020303" pitchFamily="18" charset="77"/>
                  </a:rPr>
                  <a:t> is a python package that provides support to compute the angular power spectrum of masked fields with arbitrary spin</a:t>
                </a:r>
                <a:endParaRPr lang="en-US" altLang="en-US" dirty="0">
                  <a:latin typeface="Baskerville Old Face" panose="02020602080505020303" pitchFamily="18" charset="77"/>
                </a:endParaRPr>
              </a:p>
              <a:p>
                <a:pPr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dirty="0">
                    <a:latin typeface="Baskerville Old Face" panose="02020602080505020303" pitchFamily="18" charset="77"/>
                  </a:rPr>
                  <a:t>Real surveys observe only part of the sky and contain complex masks. </a:t>
                </a:r>
              </a:p>
              <a:p>
                <a:pPr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dirty="0">
                    <a:latin typeface="Baskerville Old Face" panose="02020602080505020303" pitchFamily="18" charset="77"/>
                  </a:rPr>
                  <a:t>A mask mixes angular modes, so the directly measured spectrum is a pseudo-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altLang="en-US" b="0" i="1" smtClean="0"/>
                        </m:ctrlPr>
                      </m:sSubPr>
                      <m:e>
                        <m:r>
                          <a:rPr lang="en-AU" altLang="en-US" b="0" i="1" smtClean="0"/>
                          <m:t>𝐶</m:t>
                        </m:r>
                      </m:e>
                      <m:sub>
                        <m:r>
                          <a:rPr lang="en-AU" altLang="en-US" b="0" i="1" smtClean="0"/>
                          <m:t>ℓ</m:t>
                        </m:r>
                      </m:sub>
                    </m:sSub>
                  </m:oMath>
                </a14:m>
                <a:r>
                  <a:rPr lang="en-US" altLang="en-US" dirty="0">
                    <a:latin typeface="Baskerville Old Face" panose="02020602080505020303" pitchFamily="18" charset="77"/>
                  </a:rPr>
                  <a:t> rather than the true full-sky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altLang="en-US" b="0" i="1" smtClean="0"/>
                        </m:ctrlPr>
                      </m:sSubPr>
                      <m:e>
                        <m:r>
                          <a:rPr lang="en-AU" altLang="en-US" b="0" i="1" smtClean="0"/>
                          <m:t>𝐶</m:t>
                        </m:r>
                      </m:e>
                      <m:sub>
                        <m:r>
                          <a:rPr lang="en-AU" altLang="en-US" b="0" i="1" smtClean="0"/>
                          <m:t>ℓ</m:t>
                        </m:r>
                      </m:sub>
                    </m:sSub>
                  </m:oMath>
                </a14:m>
                <a:r>
                  <a:rPr lang="en-US" altLang="en-US" dirty="0">
                    <a:latin typeface="Baskerville Old Face" panose="02020602080505020303" pitchFamily="18" charset="77"/>
                  </a:rPr>
                  <a:t>. </a:t>
                </a:r>
              </a:p>
              <a:p>
                <a:pPr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dirty="0" err="1">
                    <a:latin typeface="Baskerville Old Face" panose="02020602080505020303" pitchFamily="18" charset="77"/>
                  </a:rPr>
                  <a:t>NaMaster</a:t>
                </a:r>
                <a:r>
                  <a:rPr lang="en-US" altLang="en-US" dirty="0">
                    <a:latin typeface="Baskerville Old Face" panose="02020602080505020303" pitchFamily="18" charset="77"/>
                  </a:rPr>
                  <a:t> calculates the mask-induced mode-coupling matrix and returns a decoupled, binned estimate of the underlying spectrum. </a:t>
                </a:r>
              </a:p>
              <a:p>
                <a:pPr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dirty="0">
                    <a:latin typeface="Baskerville Old Face" panose="02020602080505020303" pitchFamily="18" charset="77"/>
                  </a:rPr>
                  <a:t>It supports auto- and cross-correlations between spin-0 and spin-2 fields.</a:t>
                </a:r>
              </a:p>
              <a:p>
                <a:pPr>
                  <a:lnSpc>
                    <a:spcPct val="150000"/>
                  </a:lnSpc>
                </a:pPr>
                <a:endParaRPr lang="en-US" dirty="0">
                  <a:latin typeface="Baskerville Old Face" panose="02020602080505020303" pitchFamily="18" charset="77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7D5923E-4B5B-CACE-3B5F-636C4D7E862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r="-7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377097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D71783-B237-8811-C8A4-A390FE971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Baskerville Old Face" panose="02020602080505020303" pitchFamily="18" charset="77"/>
              </a:rPr>
              <a:t>Angular power without a sky mask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A16659-9F22-ADD1-2020-FD4187DEC77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91744"/>
                <a:ext cx="6602347" cy="4819097"/>
              </a:xfrm>
            </p:spPr>
            <p:txBody>
              <a:bodyPr>
                <a:noAutofit/>
              </a:bodyPr>
              <a:lstStyle/>
              <a:p>
                <a:r>
                  <a:rPr lang="en-AU" sz="2400" dirty="0">
                    <a:latin typeface="Baskerville Old Face" panose="02020602080505020303" pitchFamily="18" charset="77"/>
                  </a:rPr>
                  <a:t>The sky overdensity map, </a:t>
                </a:r>
                <a14:m>
                  <m:oMath xmlns:m="http://schemas.openxmlformats.org/officeDocument/2006/math">
                    <m:r>
                      <a:rPr lang="en-AU" sz="2400" i="1"/>
                      <m:t>𝛿</m:t>
                    </m:r>
                    <m:d>
                      <m:dPr>
                        <m:ctrlPr>
                          <a:rPr lang="ar-AE" sz="2400" i="1"/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ar-AE" sz="2400" i="1"/>
                            </m:ctrlPr>
                          </m:accPr>
                          <m:e>
                            <m:r>
                              <a:rPr lang="ar-AE" sz="2400" b="1"/>
                              <m:t>𝐧</m:t>
                            </m:r>
                          </m:e>
                        </m:acc>
                      </m:e>
                    </m:d>
                  </m:oMath>
                </a14:m>
                <a:r>
                  <a:rPr lang="ar-AE" sz="2400" dirty="0">
                    <a:latin typeface="Baskerville Old Face" panose="02020602080505020303" pitchFamily="18" charset="77"/>
                  </a:rPr>
                  <a:t>, </a:t>
                </a:r>
                <a:r>
                  <a:rPr lang="en-AU" sz="2400" dirty="0">
                    <a:latin typeface="Baskerville Old Face" panose="02020602080505020303" pitchFamily="18" charset="77"/>
                  </a:rPr>
                  <a:t>shows where there are more or fewer objects than average. </a:t>
                </a:r>
              </a:p>
              <a:p>
                <a:r>
                  <a:rPr lang="en-AU" sz="2400" dirty="0">
                    <a:latin typeface="Baskerville Old Face" panose="02020602080505020303" pitchFamily="18" charset="77"/>
                  </a:rPr>
                  <a:t>This map can be decomposed into spherical-harmonics,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400"/>
                        </m:ctrlPr>
                      </m:sSubPr>
                      <m:e>
                        <m:r>
                          <a:rPr lang="ar-AE" sz="2400" i="1"/>
                          <m:t>𝑌</m:t>
                        </m:r>
                      </m:e>
                      <m:sub>
                        <m:r>
                          <a:rPr lang="ar-AE" sz="2400"/>
                          <m:t>ℓ</m:t>
                        </m:r>
                        <m:r>
                          <a:rPr lang="ar-AE" sz="2400" i="1"/>
                          <m:t>𝑚</m:t>
                        </m:r>
                      </m:sub>
                    </m:sSub>
                  </m:oMath>
                </a14:m>
                <a:r>
                  <a:rPr lang="ar-AE" sz="2400" dirty="0">
                    <a:latin typeface="Baskerville Old Face" panose="02020602080505020303" pitchFamily="18" charset="77"/>
                  </a:rPr>
                  <a:t>.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sz="2400"/>
                        </m:ctrlPr>
                      </m:sSubPr>
                      <m:e>
                        <m:r>
                          <a:rPr lang="ar-AE" sz="2400" i="1"/>
                          <m:t>𝑎</m:t>
                        </m:r>
                      </m:e>
                      <m:sub>
                        <m:r>
                          <a:rPr lang="ar-AE" sz="2400"/>
                          <m:t>ℓ</m:t>
                        </m:r>
                        <m:r>
                          <a:rPr lang="ar-AE" sz="2400" i="1"/>
                          <m:t>𝑚</m:t>
                        </m:r>
                      </m:sub>
                    </m:sSub>
                  </m:oMath>
                </a14:m>
                <a:r>
                  <a:rPr lang="en-AU" sz="2400" dirty="0">
                    <a:latin typeface="Baskerville Old Face" panose="02020602080505020303" pitchFamily="18" charset="77"/>
                  </a:rPr>
                  <a:t> gives the amplitude of each harmonic.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sz="2400"/>
                        </m:ctrlPr>
                      </m:sSubPr>
                      <m:e>
                        <m:r>
                          <a:rPr lang="ar-AE" sz="2400" i="1"/>
                          <m:t>𝐶</m:t>
                        </m:r>
                      </m:e>
                      <m:sub>
                        <m:r>
                          <a:rPr lang="ar-AE" sz="2400"/>
                          <m:t>ℓ</m:t>
                        </m:r>
                      </m:sub>
                    </m:sSub>
                  </m:oMath>
                </a14:m>
                <a:r>
                  <a:rPr lang="en-AU" sz="2400" dirty="0">
                    <a:latin typeface="Baskerville Old Face" panose="02020602080505020303" pitchFamily="18" charset="77"/>
                  </a:rPr>
                  <a:t> is the average squared amplitude of all modes with the same </a:t>
                </a:r>
                <a14:m>
                  <m:oMath xmlns:m="http://schemas.openxmlformats.org/officeDocument/2006/math">
                    <m:r>
                      <a:rPr lang="en-AU" sz="2400"/>
                      <m:t>ℓ</m:t>
                    </m:r>
                  </m:oMath>
                </a14:m>
                <a:r>
                  <a:rPr lang="en-AU" sz="2400" dirty="0">
                    <a:latin typeface="Baskerville Old Face" panose="02020602080505020303" pitchFamily="18" charset="77"/>
                  </a:rPr>
                  <a:t>. </a:t>
                </a:r>
              </a:p>
              <a:p>
                <a:r>
                  <a:rPr lang="en-AU" sz="2400" dirty="0">
                    <a:latin typeface="Baskerville Old Face" panose="02020602080505020303" pitchFamily="18" charset="77"/>
                  </a:rPr>
                  <a:t>Therefore,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400"/>
                        </m:ctrlPr>
                      </m:sSubPr>
                      <m:e>
                        <m:r>
                          <a:rPr lang="ar-AE" sz="2400" i="1"/>
                          <m:t>𝐶</m:t>
                        </m:r>
                      </m:e>
                      <m:sub>
                        <m:r>
                          <a:rPr lang="ar-AE" sz="2400"/>
                          <m:t>ℓ</m:t>
                        </m:r>
                      </m:sub>
                    </m:sSub>
                  </m:oMath>
                </a14:m>
                <a:r>
                  <a:rPr lang="en-AU" sz="2400" dirty="0">
                    <a:latin typeface="Baskerville Old Face" panose="02020602080505020303" pitchFamily="18" charset="77"/>
                  </a:rPr>
                  <a:t> measures the amount of clustering power at each angular scale. </a:t>
                </a:r>
              </a:p>
              <a:p>
                <a:r>
                  <a:rPr lang="en-AU" sz="2400" dirty="0">
                    <a:latin typeface="Baskerville Old Face" panose="02020602080505020303" pitchFamily="18" charset="77"/>
                  </a:rPr>
                  <a:t>On the full sky, the spherical harmonics are orthogonal to one another, so each angular mode can be measured independently.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A16659-9F22-ADD1-2020-FD4187DEC77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91744"/>
                <a:ext cx="6602347" cy="4819097"/>
              </a:xfrm>
              <a:blipFill>
                <a:blip r:embed="rId2"/>
                <a:stretch>
                  <a:fillRect l="-1344" t="-1842" b="-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8DEC0940-E7CE-7D52-CD3F-5E7CB621773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94" t="13307" r="69727" b="22997"/>
          <a:stretch>
            <a:fillRect/>
          </a:stretch>
        </p:blipFill>
        <p:spPr>
          <a:xfrm>
            <a:off x="7440547" y="1591744"/>
            <a:ext cx="3913253" cy="4819097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0938821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2B5DC-6A42-7277-FBA9-23228C0EB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Baskerville Old Face" panose="02020602080505020303" pitchFamily="18" charset="77"/>
              </a:rPr>
              <a:t>Angular power with a sky mask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51DE96A-8AE0-664D-4D1F-35B703D8B6A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91745"/>
                <a:ext cx="6377609" cy="4819096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AU" dirty="0">
                    <a:latin typeface="Baskerville Old Face" panose="02020602080505020303" pitchFamily="18" charset="77"/>
                  </a:rPr>
                  <a:t>A sky mask removes or </a:t>
                </a:r>
                <a:r>
                  <a:rPr lang="en-AU" dirty="0" err="1">
                    <a:latin typeface="Baskerville Old Face" panose="02020602080505020303" pitchFamily="18" charset="77"/>
                  </a:rPr>
                  <a:t>downweights</a:t>
                </a:r>
                <a:r>
                  <a:rPr lang="en-AU" dirty="0">
                    <a:latin typeface="Baskerville Old Face" panose="02020602080505020303" pitchFamily="18" charset="77"/>
                  </a:rPr>
                  <a:t> unobserved regions of the map. </a:t>
                </a:r>
              </a:p>
              <a:p>
                <a:r>
                  <a:rPr lang="en-AU" dirty="0">
                    <a:latin typeface="Baskerville Old Face" panose="02020602080505020303" pitchFamily="18" charset="77"/>
                  </a:rPr>
                  <a:t>The masked spherical-harmonic patterns are no longer orthogonal. </a:t>
                </a:r>
              </a:p>
              <a:p>
                <a:r>
                  <a:rPr lang="en-AU" dirty="0">
                    <a:latin typeface="Baskerville Old Face" panose="02020602080505020303" pitchFamily="18" charset="77"/>
                  </a:rPr>
                  <a:t>As a result, power from one multipole </a:t>
                </a:r>
                <a14:m>
                  <m:oMath xmlns:m="http://schemas.openxmlformats.org/officeDocument/2006/math">
                    <m:r>
                      <a:rPr lang="en-AU"/>
                      <m:t>ℓ</m:t>
                    </m:r>
                  </m:oMath>
                </a14:m>
                <a:r>
                  <a:rPr lang="en-AU" dirty="0">
                    <a:latin typeface="Baskerville Old Face" panose="02020602080505020303" pitchFamily="18" charset="77"/>
                  </a:rPr>
                  <a:t> leaks into neighbouring multipoles. </a:t>
                </a:r>
              </a:p>
              <a:p>
                <a:r>
                  <a:rPr lang="en-AU" dirty="0">
                    <a:latin typeface="Baskerville Old Face" panose="02020602080505020303" pitchFamily="18" charset="77"/>
                  </a:rPr>
                  <a:t>The measured spectrum is therefore a pseudo-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/>
                        </m:ctrlPr>
                      </m:sSubPr>
                      <m:e>
                        <m:r>
                          <a:rPr lang="ar-AE" i="1"/>
                          <m:t>𝐶</m:t>
                        </m:r>
                      </m:e>
                      <m:sub>
                        <m:r>
                          <a:rPr lang="ar-AE"/>
                          <m:t>ℓ</m:t>
                        </m:r>
                      </m:sub>
                    </m:sSub>
                  </m:oMath>
                </a14:m>
                <a:r>
                  <a:rPr lang="ar-AE" dirty="0">
                    <a:latin typeface="Baskerville Old Face" panose="02020602080505020303" pitchFamily="18" charset="77"/>
                  </a:rPr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/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ar-AE"/>
                              </m:ctrlPr>
                            </m:accPr>
                            <m:e>
                              <m:r>
                                <a:rPr lang="ar-AE" i="1"/>
                                <m:t>𝐶</m:t>
                              </m:r>
                            </m:e>
                          </m:acc>
                        </m:e>
                        <m:sub>
                          <m:r>
                            <a:rPr lang="ar-AE"/>
                            <m:t>ℓ</m:t>
                          </m:r>
                        </m:sub>
                      </m:sSub>
                      <m:r>
                        <a:rPr lang="ar-AE"/>
                        <m:t>=</m:t>
                      </m:r>
                      <m:nary>
                        <m:naryPr>
                          <m:chr m:val="∑"/>
                          <m:grow m:val="on"/>
                          <m:supHide m:val="on"/>
                          <m:ctrlPr>
                            <a:rPr lang="ar-AE" i="1"/>
                          </m:ctrlPr>
                        </m:naryPr>
                        <m:sub>
                          <m:sSup>
                            <m:sSupPr>
                              <m:ctrlPr>
                                <a:rPr lang="ar-AE" i="1"/>
                              </m:ctrlPr>
                            </m:sSupPr>
                            <m:e>
                              <m:r>
                                <a:rPr lang="ar-AE"/>
                                <m:t>ℓ</m:t>
                              </m:r>
                            </m:e>
                            <m:sup>
                              <m:r>
                                <a:rPr lang="ar-AE"/>
                                <m:t>′</m:t>
                              </m:r>
                            </m:sup>
                          </m:sSup>
                        </m:sub>
                        <m:sup/>
                        <m:e>
                          <m:sSub>
                            <m:sSubPr>
                              <m:ctrlPr>
                                <a:rPr lang="ar-AE" i="1"/>
                              </m:ctrlPr>
                            </m:sSubPr>
                            <m:e>
                              <m:r>
                                <a:rPr lang="ar-AE" i="1"/>
                                <m:t>𝑀</m:t>
                              </m:r>
                            </m:e>
                            <m:sub>
                              <m:r>
                                <a:rPr lang="ar-AE"/>
                                <m:t>ℓ</m:t>
                              </m:r>
                              <m:sSup>
                                <m:sSupPr>
                                  <m:ctrlPr>
                                    <a:rPr lang="ar-AE" i="1"/>
                                  </m:ctrlPr>
                                </m:sSupPr>
                                <m:e>
                                  <m:r>
                                    <a:rPr lang="ar-AE"/>
                                    <m:t>ℓ</m:t>
                                  </m:r>
                                </m:e>
                                <m:sup>
                                  <m:r>
                                    <a:rPr lang="ar-AE"/>
                                    <m:t>′</m:t>
                                  </m:r>
                                </m:sup>
                              </m:sSup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ar-AE" i="1"/>
                          </m:ctrlPr>
                        </m:sSubPr>
                        <m:e>
                          <m:r>
                            <a:rPr lang="ar-AE" i="1"/>
                            <m:t>𝐶</m:t>
                          </m:r>
                        </m:e>
                        <m:sub>
                          <m:sSup>
                            <m:sSupPr>
                              <m:ctrlPr>
                                <a:rPr lang="ar-AE" i="1"/>
                              </m:ctrlPr>
                            </m:sSupPr>
                            <m:e>
                              <m:r>
                                <a:rPr lang="ar-AE"/>
                                <m:t>ℓ</m:t>
                              </m:r>
                            </m:e>
                            <m:sup>
                              <m:r>
                                <a:rPr lang="ar-AE"/>
                                <m:t>′</m:t>
                              </m:r>
                            </m:sup>
                          </m:sSup>
                        </m:sub>
                      </m:sSub>
                      <m:r>
                        <a:rPr lang="ar-AE"/>
                        <m:t>.</m:t>
                      </m:r>
                    </m:oMath>
                  </m:oMathPara>
                </a14:m>
                <a:endParaRPr lang="ar-AE" dirty="0">
                  <a:latin typeface="Baskerville Old Face" panose="02020602080505020303" pitchFamily="18" charset="77"/>
                </a:endParaRPr>
              </a:p>
              <a:p>
                <a:r>
                  <a:rPr lang="en-AU" dirty="0">
                    <a:latin typeface="Baskerville Old Face" panose="02020602080505020303" pitchFamily="18" charset="77"/>
                  </a:rPr>
                  <a:t>The pseudo-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ℓ</m:t>
                        </m:r>
                      </m:sub>
                    </m:sSub>
                  </m:oMath>
                </a14:m>
                <a:r>
                  <a:rPr lang="en-AU" dirty="0">
                    <a:latin typeface="Baskerville Old Face" panose="02020602080505020303" pitchFamily="18" charset="77"/>
                  </a:rPr>
                  <a:t> often has lower amplitude (loss of power).</a:t>
                </a:r>
              </a:p>
              <a:p>
                <a:endParaRPr lang="en-US" dirty="0">
                  <a:latin typeface="Baskerville Old Face" panose="02020602080505020303" pitchFamily="18" charset="77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51DE96A-8AE0-664D-4D1F-35B703D8B6A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91745"/>
                <a:ext cx="6377609" cy="4819096"/>
              </a:xfrm>
              <a:blipFill>
                <a:blip r:embed="rId3"/>
                <a:stretch>
                  <a:fillRect l="-1590" t="-2368" r="-2783" b="-218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3F84C138-4541-A7EC-9CA2-BF92F581933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3436" t="16212" r="37712" b="20093"/>
          <a:stretch>
            <a:fillRect/>
          </a:stretch>
        </p:blipFill>
        <p:spPr>
          <a:xfrm>
            <a:off x="7440547" y="1591744"/>
            <a:ext cx="3913253" cy="4857041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2149933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15DDE-18A2-32B0-924F-E53326217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Baskerville Old Face" panose="02020602080505020303" pitchFamily="18" charset="77"/>
              </a:rPr>
              <a:t>An approximate correction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F0E21B-9906-EE15-2F90-AB1C080CC92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1" y="1690687"/>
                <a:ext cx="6384010" cy="4667251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AU" dirty="0">
                    <a:latin typeface="Baskerville Old Face" panose="02020602080505020303" pitchFamily="18" charset="77"/>
                  </a:rPr>
                  <a:t>In practice,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/>
                        </m:ctrlPr>
                      </m:sSubPr>
                      <m:e>
                        <m:r>
                          <a:rPr lang="ar-AE" i="1"/>
                          <m:t>𝑀</m:t>
                        </m:r>
                      </m:e>
                      <m:sub>
                        <m:r>
                          <a:rPr lang="ar-AE"/>
                          <m:t>ℓ</m:t>
                        </m:r>
                        <m:sSup>
                          <m:sSupPr>
                            <m:ctrlPr>
                              <a:rPr lang="ar-AE" i="1"/>
                            </m:ctrlPr>
                          </m:sSupPr>
                          <m:e>
                            <m:r>
                              <a:rPr lang="ar-AE"/>
                              <m:t>ℓ</m:t>
                            </m:r>
                          </m:e>
                          <m:sup>
                            <m:r>
                              <a:rPr lang="ar-AE"/>
                              <m:t>′</m:t>
                            </m:r>
                          </m:sup>
                        </m:sSup>
                      </m:sub>
                    </m:sSub>
                  </m:oMath>
                </a14:m>
                <a:r>
                  <a:rPr lang="en-AU" dirty="0">
                    <a:latin typeface="Baskerville Old Face" panose="02020602080505020303" pitchFamily="18" charset="77"/>
                  </a:rPr>
                  <a:t> can be singular or poorly conditioned, making direct inversion unstable. </a:t>
                </a:r>
              </a:p>
              <a:p>
                <a:r>
                  <a:rPr lang="en-AU" dirty="0">
                    <a:latin typeface="Baskerville Old Face" panose="02020602080505020303" pitchFamily="18" charset="77"/>
                  </a:rPr>
                  <a:t>A simple approximation is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mtClean="0"/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ar-AE" smtClean="0"/>
                              </m:ctrlPr>
                            </m:accPr>
                            <m:e>
                              <m:r>
                                <a:rPr lang="ar-AE" i="1"/>
                                <m:t>𝐶</m:t>
                              </m:r>
                            </m:e>
                          </m:acc>
                        </m:e>
                        <m:sub>
                          <m:r>
                            <a:rPr lang="ar-AE"/>
                            <m:t>ℓ</m:t>
                          </m:r>
                        </m:sub>
                      </m:sSub>
                      <m:r>
                        <a:rPr lang="ar-AE"/>
                        <m:t>≈</m:t>
                      </m:r>
                      <m:sSub>
                        <m:sSubPr>
                          <m:ctrlPr>
                            <a:rPr lang="ar-AE" i="1"/>
                          </m:ctrlPr>
                        </m:sSubPr>
                        <m:e>
                          <m:r>
                            <a:rPr lang="ar-AE" i="1"/>
                            <m:t>𝑓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AU"/>
                            <m:t>sky</m:t>
                          </m:r>
                        </m:sub>
                      </m:sSub>
                      <m:sSub>
                        <m:sSubPr>
                          <m:ctrlPr>
                            <a:rPr lang="ar-AE" i="1"/>
                          </m:ctrlPr>
                        </m:sSubPr>
                        <m:e>
                          <m:r>
                            <a:rPr lang="ar-AE" i="1"/>
                            <m:t>𝐶</m:t>
                          </m:r>
                        </m:e>
                        <m:sub>
                          <m:r>
                            <a:rPr lang="ar-AE"/>
                            <m:t>ℓ</m:t>
                          </m:r>
                        </m:sub>
                      </m:sSub>
                      <m:r>
                        <a:rPr lang="ar-AE"/>
                        <m:t>.</m:t>
                      </m:r>
                    </m:oMath>
                  </m:oMathPara>
                </a14:m>
                <a:endParaRPr lang="ar-AE" dirty="0">
                  <a:latin typeface="Baskerville Old Face" panose="02020602080505020303" pitchFamily="18" charset="77"/>
                </a:endParaRPr>
              </a:p>
              <a:p>
                <a:r>
                  <a:rPr lang="en-AU" dirty="0">
                    <a:latin typeface="Baskerville Old Face" panose="02020602080505020303" pitchFamily="18" charset="77"/>
                  </a:rPr>
                  <a:t>This assumes the mask mainly suppresses the overall amplitude, rather than strongly mixing different multipoles. </a:t>
                </a:r>
              </a:p>
              <a:p>
                <a:r>
                  <a:rPr lang="en-AU" dirty="0">
                    <a:latin typeface="Baskerville Old Face" panose="02020602080505020303" pitchFamily="18" charset="77"/>
                  </a:rPr>
                  <a:t>This is fast and simple, but it does not recover the detailed mode coupling produced by a realistic mask (and only works for large sky fractions and smooth masks).</a:t>
                </a:r>
              </a:p>
              <a:p>
                <a:endParaRPr lang="en-US" dirty="0">
                  <a:latin typeface="Baskerville Old Face" panose="02020602080505020303" pitchFamily="18" charset="77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F0E21B-9906-EE15-2F90-AB1C080CC9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1" y="1690687"/>
                <a:ext cx="6384010" cy="4667251"/>
              </a:xfrm>
              <a:blipFill>
                <a:blip r:embed="rId2"/>
                <a:stretch>
                  <a:fillRect l="-1590" t="-2439" r="-27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oup 6">
            <a:extLst>
              <a:ext uri="{FF2B5EF4-FFF2-40B4-BE49-F238E27FC236}">
                <a16:creationId xmlns:a16="http://schemas.microsoft.com/office/drawing/2014/main" id="{4ED20003-F226-FB57-6186-7585F14BAD5D}"/>
              </a:ext>
            </a:extLst>
          </p:cNvPr>
          <p:cNvGrpSpPr/>
          <p:nvPr/>
        </p:nvGrpSpPr>
        <p:grpSpPr>
          <a:xfrm>
            <a:off x="6771615" y="782321"/>
            <a:ext cx="4582186" cy="5732785"/>
            <a:chOff x="6643027" y="884708"/>
            <a:chExt cx="4582186" cy="5732785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4D212230-A615-A99D-C974-D197ABAFF07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643027" y="884708"/>
              <a:ext cx="4582186" cy="3916053"/>
            </a:xfrm>
            <a:prstGeom prst="rect">
              <a:avLst/>
            </a:prstGeom>
          </p:spPr>
        </p:pic>
        <p:pic>
          <p:nvPicPr>
            <p:cNvPr id="6" name="Picture 5" descr="A diagram of a mathematical equation&#10;&#10;AI-generated content may be incorrect.">
              <a:extLst>
                <a:ext uri="{FF2B5EF4-FFF2-40B4-BE49-F238E27FC236}">
                  <a16:creationId xmlns:a16="http://schemas.microsoft.com/office/drawing/2014/main" id="{0FF2CDE7-4586-ACD9-F4F5-AEC0E36A177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020264" y="4800761"/>
              <a:ext cx="2730958" cy="181673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689066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523E5-C575-D844-7054-8CD30BC64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Baskerville Old Face" panose="02020602080505020303" pitchFamily="18" charset="77"/>
              </a:rPr>
              <a:t>The </a:t>
            </a:r>
            <a:r>
              <a:rPr lang="en-US" dirty="0" err="1">
                <a:latin typeface="Baskerville Old Face" panose="02020602080505020303" pitchFamily="18" charset="77"/>
              </a:rPr>
              <a:t>NaMaster</a:t>
            </a:r>
            <a:r>
              <a:rPr lang="en-US" dirty="0">
                <a:latin typeface="Baskerville Old Face" panose="02020602080505020303" pitchFamily="18" charset="77"/>
              </a:rPr>
              <a:t> way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945087-8AB6-7EF4-BAEB-4F009804733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90688"/>
                <a:ext cx="5551729" cy="4802187"/>
              </a:xfrm>
            </p:spPr>
            <p:txBody>
              <a:bodyPr>
                <a:normAutofit/>
              </a:bodyPr>
              <a:lstStyle/>
              <a:p>
                <a:pPr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dirty="0" err="1">
                    <a:latin typeface="Baskerville Old Face" panose="02020602080505020303" pitchFamily="18" charset="77"/>
                  </a:rPr>
                  <a:t>NaMaster</a:t>
                </a:r>
                <a:r>
                  <a:rPr lang="en-US" altLang="en-US" dirty="0">
                    <a:latin typeface="Baskerville Old Face" panose="02020602080505020303" pitchFamily="18" charset="77"/>
                  </a:rPr>
                  <a:t> groups </a:t>
                </a:r>
                <a:r>
                  <a:rPr lang="en-US" altLang="en-US" dirty="0" err="1">
                    <a:latin typeface="Baskerville Old Face" panose="02020602080505020303" pitchFamily="18" charset="77"/>
                  </a:rPr>
                  <a:t>neighbouring</a:t>
                </a:r>
                <a:r>
                  <a:rPr lang="en-US" altLang="en-US" dirty="0">
                    <a:latin typeface="Baskerville Old Face" panose="02020602080505020303" pitchFamily="18" charset="77"/>
                  </a:rPr>
                  <a:t> multipoles into bins. </a:t>
                </a:r>
              </a:p>
              <a:p>
                <a:pPr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dirty="0">
                    <a:latin typeface="Baskerville Old Face" panose="02020602080505020303" pitchFamily="18" charset="77"/>
                  </a:rPr>
                  <a:t>This produces a binned coupling matrix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𝑏𝑏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b>
                    </m:sSub>
                  </m:oMath>
                </a14:m>
                <a:r>
                  <a:rPr lang="en-US" altLang="en-US" dirty="0">
                    <a:latin typeface="Baskerville Old Face" panose="02020602080505020303" pitchFamily="18" charset="77"/>
                  </a:rPr>
                  <a:t> that is much better behaved. </a:t>
                </a:r>
              </a:p>
              <a:p>
                <a:pPr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dirty="0">
                    <a:latin typeface="Baskerville Old Face" panose="02020602080505020303" pitchFamily="18" charset="77"/>
                  </a:rPr>
                  <a:t>The decoupled </a:t>
                </a:r>
                <a:r>
                  <a:rPr lang="en-US" altLang="en-US" dirty="0" err="1">
                    <a:latin typeface="Baskerville Old Face" panose="02020602080505020303" pitchFamily="18" charset="77"/>
                  </a:rPr>
                  <a:t>bandpowers</a:t>
                </a:r>
                <a:r>
                  <a:rPr lang="en-US" altLang="en-US" dirty="0">
                    <a:latin typeface="Baskerville Old Face" panose="02020602080505020303" pitchFamily="18" charset="77"/>
                  </a:rPr>
                  <a:t> are then obtained by inverting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𝑏𝑏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b>
                    </m:sSub>
                  </m:oMath>
                </a14:m>
                <a:r>
                  <a:rPr lang="en-US" altLang="en-US" dirty="0">
                    <a:latin typeface="Baskerville Old Face" panose="02020602080505020303" pitchFamily="18" charset="77"/>
                  </a:rPr>
                  <a:t>, rather than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ar-AE" b="0" smtClean="0">
                            <a:latin typeface="Cambria Math" panose="02040503050406030204" pitchFamily="18" charset="0"/>
                          </a:rPr>
                          <m:t>ℓ</m:t>
                        </m:r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b="0" smtClean="0"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  <m:sup>
                            <m:r>
                              <a:rPr lang="ar-AE" b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</m:sSub>
                  </m:oMath>
                </a14:m>
                <a:r>
                  <a:rPr lang="en-US" altLang="en-US" dirty="0">
                    <a:latin typeface="Baskerville Old Face" panose="02020602080505020303" pitchFamily="18" charset="77"/>
                  </a:rPr>
                  <a:t>.</a:t>
                </a:r>
              </a:p>
              <a:p>
                <a:r>
                  <a:rPr lang="en-AU" dirty="0">
                    <a:latin typeface="Baskerville Old Face" panose="02020602080505020303" pitchFamily="18" charset="77"/>
                  </a:rPr>
                  <a:t>This gives an unbiased estimate of the underlying full-sky spectrum.</a:t>
                </a:r>
                <a:endParaRPr lang="en-US" altLang="en-US" dirty="0">
                  <a:latin typeface="Baskerville Old Face" panose="02020602080505020303" pitchFamily="18" charset="77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945087-8AB6-7EF4-BAEB-4F009804733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90688"/>
                <a:ext cx="5551729" cy="4802187"/>
              </a:xfrm>
              <a:blipFill>
                <a:blip r:embed="rId2"/>
                <a:stretch>
                  <a:fillRect l="-2055" t="-10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D78D8408-CDFE-7A0E-2242-6FB635AFBB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9929" y="1078275"/>
            <a:ext cx="5270500" cy="3949700"/>
          </a:xfrm>
          <a:prstGeom prst="rect">
            <a:avLst/>
          </a:prstGeom>
        </p:spPr>
      </p:pic>
      <p:pic>
        <p:nvPicPr>
          <p:cNvPr id="10" name="Picture 9" descr="A close up of symbols&#10;&#10;AI-generated content may be incorrect.">
            <a:extLst>
              <a:ext uri="{FF2B5EF4-FFF2-40B4-BE49-F238E27FC236}">
                <a16:creationId xmlns:a16="http://schemas.microsoft.com/office/drawing/2014/main" id="{B7E29896-BFB1-CF59-EF7D-BAA202BEB8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3066" y="5201875"/>
            <a:ext cx="3238500" cy="1155700"/>
          </a:xfrm>
          <a:prstGeom prst="rect">
            <a:avLst/>
          </a:prstGeom>
          <a:ln w="1905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1496644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4E893-3AAA-6E34-C95E-660996B8D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Baskerville Old Face" panose="02020602080505020303" pitchFamily="18" charset="77"/>
              </a:rPr>
              <a:t>Spin fields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86F698A-92BF-F235-6EE7-9866BAD793E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492819"/>
            <a:ext cx="10515600" cy="50169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skerville Old Face" panose="02020602080505020303" pitchFamily="18" charset="77"/>
              </a:rPr>
              <a:t>Spin describes how a field changes when the local coordinate axes are rotated.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skerville Old Face" panose="02020602080505020303" pitchFamily="18" charset="77"/>
              </a:rPr>
              <a:t>Spin 0: the measured value is unchanged by the rotation (e.g. galaxy overdensity, GW number counts and CMB temperature).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skerville Old Face" panose="02020602080505020303" pitchFamily="18" charset="77"/>
              </a:rPr>
              <a:t>Spin 2: the field has an orientation, so its numerical components change when the axes rotate (e.g. weak-lensing shear and CMB </a:t>
            </a:r>
            <a:r>
              <a:rPr kumimoji="0" lang="en-US" altLang="en-US" sz="2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skerville Old Face" panose="02020602080505020303" pitchFamily="18" charset="77"/>
              </a:rPr>
              <a:t>polarisation</a:t>
            </a:r>
            <a:r>
              <a:rPr kumimoji="0" lang="en-US" altLang="en-US" sz="2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skerville Old Face" panose="02020602080505020303" pitchFamily="18" charset="77"/>
              </a:rPr>
              <a:t>).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skerville Old Face" panose="02020602080505020303" pitchFamily="18" charset="77"/>
              </a:rPr>
              <a:t>For galaxy and GW overdensity maps, we therefore use spin-0 </a:t>
            </a:r>
            <a:r>
              <a:rPr kumimoji="0" lang="en-US" altLang="en-US" sz="2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skerville Old Face" panose="02020602080505020303" pitchFamily="18" charset="77"/>
              </a:rPr>
              <a:t>NaMaster</a:t>
            </a:r>
            <a:r>
              <a:rPr kumimoji="0" lang="en-US" altLang="en-US" sz="2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skerville Old Face" panose="02020602080505020303" pitchFamily="18" charset="77"/>
              </a:rPr>
              <a:t> fields. </a:t>
            </a:r>
          </a:p>
        </p:txBody>
      </p:sp>
    </p:spTree>
    <p:extLst>
      <p:ext uri="{BB962C8B-B14F-4D97-AF65-F5344CB8AC3E}">
        <p14:creationId xmlns:p14="http://schemas.microsoft.com/office/powerpoint/2010/main" val="39579526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3524E-67BC-212D-E159-81176C0B03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Baskerville Old Face" panose="02020602080505020303" pitchFamily="18" charset="77"/>
              </a:rPr>
              <a:t>When to use </a:t>
            </a:r>
            <a:r>
              <a:rPr lang="en-US" dirty="0" err="1">
                <a:latin typeface="Baskerville Old Face" panose="02020602080505020303" pitchFamily="18" charset="77"/>
              </a:rPr>
              <a:t>NaMaster</a:t>
            </a:r>
            <a:endParaRPr lang="en-US" dirty="0">
              <a:latin typeface="Baskerville Old Face" panose="02020602080505020303" pitchFamily="18" charset="77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950B9F-C657-553D-2876-C5AF3C0478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en-US" dirty="0">
                <a:latin typeface="Baskerville Old Face" panose="02020602080505020303" pitchFamily="18" charset="77"/>
              </a:rPr>
              <a:t>Want to compute the auto- or cross-angular power spectrum of observed or simulated sky fields.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Baskerville Old Face" panose="02020602080505020303" pitchFamily="18" charset="77"/>
              </a:rPr>
              <a:t>Have a sky mask describing which regions of the sky were observed.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Baskerville Old Face" panose="02020602080505020303" pitchFamily="18" charset="77"/>
              </a:rPr>
              <a:t>Need to correct for mode coupling caused by incomplete sky coverage.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Baskerville Old Face" panose="02020602080505020303" pitchFamily="18" charset="77"/>
              </a:rPr>
              <a:t>Want to analyse scalar or spin fields, including number counts, temperature, shear or </a:t>
            </a:r>
            <a:r>
              <a:rPr lang="en-US" altLang="en-US" dirty="0" err="1">
                <a:latin typeface="Baskerville Old Face" panose="02020602080505020303" pitchFamily="18" charset="77"/>
              </a:rPr>
              <a:t>polarisation</a:t>
            </a:r>
            <a:r>
              <a:rPr lang="en-US" altLang="en-US" dirty="0">
                <a:latin typeface="Baskerville Old Face" panose="02020602080505020303" pitchFamily="18" charset="77"/>
              </a:rPr>
              <a:t>.</a:t>
            </a:r>
          </a:p>
          <a:p>
            <a:pPr>
              <a:lnSpc>
                <a:spcPct val="150000"/>
              </a:lnSpc>
            </a:pPr>
            <a:endParaRPr lang="en-US" dirty="0">
              <a:latin typeface="Baskerville Old Face" panose="02020602080505020303" pitchFamily="18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6051272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82E10-A305-71EB-F695-86B2F6E2D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Baskerville Old Face" panose="02020602080505020303" pitchFamily="18" charset="77"/>
              </a:rPr>
              <a:t>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EA214A-4488-1E0B-BC82-5AAF4A6257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>
                <a:latin typeface="Baskerville Old Face" panose="02020602080505020303" pitchFamily="18" charset="77"/>
                <a:hlinkClick r:id="rId2"/>
              </a:rPr>
              <a:t>https://namaster.readthedocs.io/en/latest/source/sample_simple.html</a:t>
            </a:r>
            <a:endParaRPr lang="en-US" dirty="0">
              <a:latin typeface="Baskerville Old Face" panose="02020602080505020303" pitchFamily="18" charset="77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Baskerville Old Face" panose="02020602080505020303" pitchFamily="18" charset="77"/>
                <a:hlinkClick r:id="rId3"/>
              </a:rPr>
              <a:t>https://github.com/maddycp/NaMaster_Tutorial</a:t>
            </a:r>
            <a:endParaRPr lang="en-US" dirty="0">
              <a:latin typeface="Baskerville Old Face" panose="02020602080505020303" pitchFamily="18" charset="77"/>
            </a:endParaRPr>
          </a:p>
          <a:p>
            <a:pPr>
              <a:lnSpc>
                <a:spcPct val="150000"/>
              </a:lnSpc>
            </a:pPr>
            <a:endParaRPr lang="en-US" dirty="0">
              <a:latin typeface="Baskerville Old Face" panose="02020602080505020303" pitchFamily="18" charset="77"/>
            </a:endParaRPr>
          </a:p>
          <a:p>
            <a:pPr>
              <a:lnSpc>
                <a:spcPct val="150000"/>
              </a:lnSpc>
            </a:pPr>
            <a:endParaRPr lang="en-US" dirty="0">
              <a:latin typeface="Baskerville Old Face" panose="02020602080505020303" pitchFamily="18" charset="77"/>
            </a:endParaRP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2B9C9BEF-1026-769D-D078-9C25A384DB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658" y="3787927"/>
            <a:ext cx="11403632" cy="1062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67372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558</Words>
  <Application>Microsoft Macintosh PowerPoint</Application>
  <PresentationFormat>Widescreen</PresentationFormat>
  <Paragraphs>47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Aptos Display</vt:lpstr>
      <vt:lpstr>Arial</vt:lpstr>
      <vt:lpstr>Baskerville Old Face</vt:lpstr>
      <vt:lpstr>Cambria Math</vt:lpstr>
      <vt:lpstr>Office Theme</vt:lpstr>
      <vt:lpstr>A guide to NaMaster</vt:lpstr>
      <vt:lpstr>What is NaMaster</vt:lpstr>
      <vt:lpstr>Angular power without a sky mask</vt:lpstr>
      <vt:lpstr>Angular power with a sky mask</vt:lpstr>
      <vt:lpstr>An approximate correction</vt:lpstr>
      <vt:lpstr>The NaMaster way</vt:lpstr>
      <vt:lpstr>Spin fields</vt:lpstr>
      <vt:lpstr>When to use NaMaster</vt:lpstr>
      <vt:lpstr>Resources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Madeline Cross-Parkin</dc:creator>
  <cp:lastModifiedBy>Madeline Cross-Parkin</cp:lastModifiedBy>
  <cp:revision>1</cp:revision>
  <dcterms:created xsi:type="dcterms:W3CDTF">2026-07-27T05:23:56Z</dcterms:created>
  <dcterms:modified xsi:type="dcterms:W3CDTF">2026-07-27T06:24:16Z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f488380-630a-4f55-a077-a19445e3f360_Enabled">
    <vt:lpwstr>true</vt:lpwstr>
  </property>
  <property fmtid="{D5CDD505-2E9C-101B-9397-08002B2CF9AE}" pid="3" name="MSIP_Label_0f488380-630a-4f55-a077-a19445e3f360_SetDate">
    <vt:lpwstr>2026-07-27T06:24:16Z</vt:lpwstr>
  </property>
  <property fmtid="{D5CDD505-2E9C-101B-9397-08002B2CF9AE}" pid="4" name="MSIP_Label_0f488380-630a-4f55-a077-a19445e3f360_Method">
    <vt:lpwstr>Standard</vt:lpwstr>
  </property>
  <property fmtid="{D5CDD505-2E9C-101B-9397-08002B2CF9AE}" pid="5" name="MSIP_Label_0f488380-630a-4f55-a077-a19445e3f360_Name">
    <vt:lpwstr>OFFICIAL - INTERNAL</vt:lpwstr>
  </property>
  <property fmtid="{D5CDD505-2E9C-101B-9397-08002B2CF9AE}" pid="6" name="MSIP_Label_0f488380-630a-4f55-a077-a19445e3f360_SiteId">
    <vt:lpwstr>b6e377cf-9db3-46cb-91a2-fad9605bb15c</vt:lpwstr>
  </property>
  <property fmtid="{D5CDD505-2E9C-101B-9397-08002B2CF9AE}" pid="7" name="MSIP_Label_0f488380-630a-4f55-a077-a19445e3f360_ActionId">
    <vt:lpwstr>74767fa3-9884-4d28-8b77-64c467efde4a</vt:lpwstr>
  </property>
  <property fmtid="{D5CDD505-2E9C-101B-9397-08002B2CF9AE}" pid="8" name="MSIP_Label_0f488380-630a-4f55-a077-a19445e3f360_ContentBits">
    <vt:lpwstr>0</vt:lpwstr>
  </property>
  <property fmtid="{D5CDD505-2E9C-101B-9397-08002B2CF9AE}" pid="9" name="MSIP_Label_0f488380-630a-4f55-a077-a19445e3f360_Tag">
    <vt:lpwstr>50, 3, 0, 1</vt:lpwstr>
  </property>
</Properties>
</file>